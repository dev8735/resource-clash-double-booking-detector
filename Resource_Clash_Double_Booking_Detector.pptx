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097280"/>
            <a:ext cx="6400800" cy="6400800"/>
          </a:xfrm>
          <a:prstGeom prst="ellipse">
            <a:avLst/>
          </a:prstGeom>
          <a:solidFill>
            <a:srgbClr val="5B8DEF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5486400" cy="5486400"/>
          </a:xfrm>
          <a:prstGeom prst="ellipse">
            <a:avLst/>
          </a:prstGeom>
          <a:solidFill>
            <a:srgbClr val="F2A93B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029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A2238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70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◈</a:t>
            </a:r>
            <a:endParaRPr lang="en-US" sz="1870" dirty="0"/>
          </a:p>
        </p:txBody>
      </p:sp>
      <p:sp>
        <p:nvSpPr>
          <p:cNvPr id="6" name="Text 4"/>
          <p:cNvSpPr/>
          <p:nvPr/>
        </p:nvSpPr>
        <p:spPr>
          <a:xfrm>
            <a:off x="1188720" y="50292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 &amp; HOSPITALITY HACKATHON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7680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EF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 Clash &amp;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EF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Double-Booking Detector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3520440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scheduling board that catches driver, vehicle, guide, and room clashes the moment they happen — not the morning of the trip.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4526280"/>
            <a:ext cx="1737360" cy="292608"/>
          </a:xfrm>
          <a:prstGeom prst="roundRect">
            <a:avLst>
              <a:gd name="adj" fmla="val 18750"/>
            </a:avLst>
          </a:prstGeom>
          <a:solidFill>
            <a:srgbClr val="3A2E18"/>
          </a:solidFill>
          <a:ln w="12700">
            <a:solidFill>
              <a:srgbClr val="3A2E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526280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LIVE PROTOTYPE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468880" y="45262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github.com/Dev8735/Resource-Clash-Double-Booking-Detector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080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— Dev Chokhawala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0" y="1417320"/>
            <a:ext cx="3886200" cy="3931920"/>
          </a:xfrm>
          <a:prstGeom prst="roundRect">
            <a:avLst>
              <a:gd name="adj" fmla="val 1882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1000" y="15727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 BOARD — LIVE</a:t>
            </a:r>
            <a:endParaRPr lang="en-US" sz="9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1965960"/>
          <a:ext cx="3474720" cy="914400"/>
        </p:xfrm>
        <a:graphic>
          <a:graphicData uri="http://schemas.openxmlformats.org/drawingml/2006/table">
            <a:tbl>
              <a:tblPr/>
              <a:tblGrid>
                <a:gridCol w="1111910"/>
                <a:gridCol w="590702"/>
                <a:gridCol w="590702"/>
                <a:gridCol w="590702"/>
                <a:gridCol w="590702"/>
              </a:tblGrid>
              <a:tr h="4663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93A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Oct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93A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 Oct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93A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 Oct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93A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 Oct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C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DEF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Driver: Ramesh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2A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Booked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E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5484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Clash!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E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2A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Booked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E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F678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DEF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Driver: Suresh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F678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2A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Booked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E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2A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Booked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E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F678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DEF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Vehicle: MH-04-1121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2A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Booked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E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5484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Clash!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E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F678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F678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DEF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 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2A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Booked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E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2A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Booked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E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2A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Booked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E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F678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8001000" y="443484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clashes on the board right now — the app flags both instantly and proposes Driver Suresh as the free alternative.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94360"/>
            <a:ext cx="146304" cy="146304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51206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DEF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scheduling misses clashes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DEF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until it's too late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074920" cy="1691640"/>
          </a:xfrm>
          <a:prstGeom prst="roundRect">
            <a:avLst>
              <a:gd name="adj" fmla="val 4324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514600"/>
            <a:ext cx="4526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FACES IT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862072"/>
            <a:ext cx="4526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 operations staff — plus drivers, guides, and hotel partners whose schedules collide with theirs.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0" y="2331720"/>
            <a:ext cx="5074920" cy="1691640"/>
          </a:xfrm>
          <a:prstGeom prst="roundRect">
            <a:avLst>
              <a:gd name="adj" fmla="val 4324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2514600"/>
            <a:ext cx="4526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IT HAPPENS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217920" y="2862072"/>
            <a:ext cx="4526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season, when many trips run in overlapping date ranges across the same drivers and vehicles.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297680"/>
            <a:ext cx="5074920" cy="1691640"/>
          </a:xfrm>
          <a:prstGeom prst="roundRect">
            <a:avLst>
              <a:gd name="adj" fmla="val 4324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480560"/>
            <a:ext cx="4526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IT'S HANDLED TODAY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828032"/>
            <a:ext cx="4526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Cross-checked by hand in spreadsheets or registers — easy to miss once volume climbs.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0" y="4297680"/>
            <a:ext cx="5074920" cy="1691640"/>
          </a:xfrm>
          <a:prstGeom prst="roundRect">
            <a:avLst>
              <a:gd name="adj" fmla="val 4324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4480560"/>
            <a:ext cx="4526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MATTERS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17920" y="4828032"/>
            <a:ext cx="4526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surface right before the trip starts: last-minute scrambling, cancellations, damaged trust.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F67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CLASH &amp; DOUBLE-BOOKING DETECTOR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5F67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94360"/>
            <a:ext cx="146304" cy="146304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51206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SOLUTION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DEF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booking is checked the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DEF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instant it's entered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331720" cy="1554480"/>
          </a:xfrm>
          <a:prstGeom prst="roundRect">
            <a:avLst>
              <a:gd name="adj" fmla="val 4706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9631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88036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booking entered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3227832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type, resource, trip, customer, and date range.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926080" y="2834640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F6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383280" y="2331720"/>
            <a:ext cx="2331720" cy="1554480"/>
          </a:xfrm>
          <a:prstGeom prst="roundRect">
            <a:avLst>
              <a:gd name="adj" fmla="val 4706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249631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8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11880" y="288036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conflict check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611880" y="3227832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against every existing booking for that same resource.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760720" y="2834640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F6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217920" y="233172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1A2238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2606040"/>
            <a:ext cx="1874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38160" y="24231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C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no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006840" y="196596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35440" y="21305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C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235440" y="2514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confirmed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235440" y="286207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Instantly — no alert, no manual re-check needed.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995160" y="3950208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 yes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17920" y="43434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46520" y="450799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46520" y="48920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raised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46520" y="5239512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the exact existing booking it collides with.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915400" y="48920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F6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281160" y="4343400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509760" y="450799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509760" y="48920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suggested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509760" y="523951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resource of the same type for that exact date range.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F67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CLASH &amp; DOUBLE-BOOKING DETECTOR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5F67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94360"/>
            <a:ext cx="146304" cy="146304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51206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DEF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schedule board is the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DEF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 source of truth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6949440" cy="3886200"/>
          </a:xfrm>
          <a:prstGeom prst="roundRect">
            <a:avLst>
              <a:gd name="adj" fmla="val 1882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871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B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 BOARD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880360"/>
          <a:ext cx="6400800" cy="914400"/>
        </p:xfrm>
        <a:graphic>
          <a:graphicData uri="http://schemas.openxmlformats.org/drawingml/2006/table">
            <a:tbl>
              <a:tblPr/>
              <a:tblGrid>
                <a:gridCol w="2048256"/>
                <a:gridCol w="1088136"/>
                <a:gridCol w="1088136"/>
                <a:gridCol w="1088136"/>
                <a:gridCol w="1088136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93A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Oct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93A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 Oct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93A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 Oct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93A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 Oct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DEF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Driver: Ramesh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2A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Booked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E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5484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Clash!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E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2A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Booked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E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F678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DEF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Driver: Suresh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F678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2A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Booked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E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2A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Booked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E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F678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DEF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Vehicle: MH-04-1121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2A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Booked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E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5484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Clash!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E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F678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F678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DEF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 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2A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Booked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E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2A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Booked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E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2A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Booked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E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F678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22960" y="56235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resource type · step week forward/back · export or print the current view.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726680" y="2377440"/>
            <a:ext cx="128016" cy="128016"/>
          </a:xfrm>
          <a:prstGeom prst="roundRect">
            <a:avLst/>
          </a:prstGeom>
          <a:solidFill>
            <a:srgbClr val="F2A93B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225856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Color-coded status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73568" y="2551176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Open, Booked, and Conflict states are visible at a glance for every resource.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726680" y="3310128"/>
            <a:ext cx="128016" cy="128016"/>
          </a:xfrm>
          <a:prstGeom prst="roundRect">
            <a:avLst/>
          </a:prstGeom>
          <a:solidFill>
            <a:srgbClr val="F2A93B"/>
          </a:solidFill>
          <a:ln/>
        </p:spPr>
      </p:sp>
      <p:sp>
        <p:nvSpPr>
          <p:cNvPr id="13" name="Text 10"/>
          <p:cNvSpPr/>
          <p:nvPr/>
        </p:nvSpPr>
        <p:spPr>
          <a:xfrm>
            <a:off x="7973568" y="319125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booking, every row updates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973568" y="3483864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overlap check runs per resource, per date — no manual cross-referencing.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726680" y="4242816"/>
            <a:ext cx="128016" cy="128016"/>
          </a:xfrm>
          <a:prstGeom prst="roundRect">
            <a:avLst/>
          </a:prstGeom>
          <a:solidFill>
            <a:srgbClr val="F2A93B"/>
          </a:solidFill>
          <a:ln/>
        </p:spPr>
      </p:sp>
      <p:sp>
        <p:nvSpPr>
          <p:cNvPr id="16" name="Text 13"/>
          <p:cNvSpPr/>
          <p:nvPr/>
        </p:nvSpPr>
        <p:spPr>
          <a:xfrm>
            <a:off x="7973568" y="412394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suggestion, one click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973568" y="4416552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can watch a clash resolve live during the demo instead of reading about it.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726680" y="5175504"/>
            <a:ext cx="128016" cy="128016"/>
          </a:xfrm>
          <a:prstGeom prst="roundRect">
            <a:avLst/>
          </a:prstGeom>
          <a:solidFill>
            <a:srgbClr val="F2A93B"/>
          </a:solidFill>
          <a:ln/>
        </p:spPr>
      </p:sp>
      <p:sp>
        <p:nvSpPr>
          <p:cNvPr id="19" name="Text 16"/>
          <p:cNvSpPr/>
          <p:nvPr/>
        </p:nvSpPr>
        <p:spPr>
          <a:xfrm>
            <a:off x="7973568" y="505663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conflict feed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973568" y="534924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clash the board raises is logged with a timestamp, off to the side.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F67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CLASH &amp; DOUBLE-BOOKING DETECTOR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5F67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94360"/>
            <a:ext cx="146304" cy="146304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51206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TECHNOLOGY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F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Built, not just planned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48132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below is running in the live prototype today — nothing on this slide is aspirational.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11091672" cy="658368"/>
          </a:xfrm>
          <a:prstGeom prst="roundRect">
            <a:avLst>
              <a:gd name="adj" fmla="val 8333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14884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8B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 LAYER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97480" y="2331720"/>
            <a:ext cx="960120" cy="292608"/>
          </a:xfrm>
          <a:prstGeom prst="roundRect">
            <a:avLst>
              <a:gd name="adj" fmla="val 18750"/>
            </a:avLst>
          </a:prstGeom>
          <a:solidFill>
            <a:srgbClr val="163328"/>
          </a:solidFill>
          <a:ln w="12700">
            <a:solidFill>
              <a:srgbClr val="1633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97480" y="233172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FC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86200" y="2148840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+ CSS3, no framework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0" y="2148840"/>
            <a:ext cx="4160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build step — opens instantly for judges, deploys as a static site.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935224"/>
            <a:ext cx="11091672" cy="658368"/>
          </a:xfrm>
          <a:prstGeom prst="roundRect">
            <a:avLst>
              <a:gd name="adj" fmla="val 8333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935224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8B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LOGIC LAYER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97480" y="3118104"/>
            <a:ext cx="960120" cy="292608"/>
          </a:xfrm>
          <a:prstGeom prst="roundRect">
            <a:avLst>
              <a:gd name="adj" fmla="val 18750"/>
            </a:avLst>
          </a:prstGeom>
          <a:solidFill>
            <a:srgbClr val="163328"/>
          </a:solidFill>
          <a:ln w="12700">
            <a:solidFill>
              <a:srgbClr val="1633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97480" y="3118104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FC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886200" y="2935224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JavaScript — overlap + alternative-resource search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0" y="2935224"/>
            <a:ext cx="4160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findOverlaps() per resource on every booking; no server round-trip.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721608"/>
            <a:ext cx="11091672" cy="658368"/>
          </a:xfrm>
          <a:prstGeom prst="roundRect">
            <a:avLst>
              <a:gd name="adj" fmla="val 8333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721608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8B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697480" y="3904488"/>
            <a:ext cx="960120" cy="292608"/>
          </a:xfrm>
          <a:prstGeom prst="roundRect">
            <a:avLst>
              <a:gd name="adj" fmla="val 18750"/>
            </a:avLst>
          </a:prstGeom>
          <a:solidFill>
            <a:srgbClr val="163328"/>
          </a:solidFill>
          <a:ln w="12700">
            <a:solidFill>
              <a:srgbClr val="1633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97480" y="390448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FC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86200" y="3721608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localStorage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0" y="3721608"/>
            <a:ext cx="4160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for the prototype stage — swappable for a real database next.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507992"/>
            <a:ext cx="11091672" cy="658368"/>
          </a:xfrm>
          <a:prstGeom prst="roundRect">
            <a:avLst>
              <a:gd name="adj" fmla="val 8333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50799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8B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HOSTING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697480" y="4690872"/>
            <a:ext cx="960120" cy="292608"/>
          </a:xfrm>
          <a:prstGeom prst="roundRect">
            <a:avLst>
              <a:gd name="adj" fmla="val 18750"/>
            </a:avLst>
          </a:prstGeom>
          <a:solidFill>
            <a:srgbClr val="163328"/>
          </a:solidFill>
          <a:ln w="12700">
            <a:solidFill>
              <a:srgbClr val="16332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97480" y="469087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FC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886200" y="4507992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0" y="4507992"/>
            <a:ext cx="4160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public, gives judges a real working link — not a local-only demo.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5294376"/>
            <a:ext cx="11091672" cy="658368"/>
          </a:xfrm>
          <a:prstGeom prst="roundRect">
            <a:avLst>
              <a:gd name="adj" fmla="val 8333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294376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8B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FORECAST PANEL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697480" y="5477256"/>
            <a:ext cx="1965960" cy="292608"/>
          </a:xfrm>
          <a:prstGeom prst="roundRect">
            <a:avLst>
              <a:gd name="adj" fmla="val 18750"/>
            </a:avLst>
          </a:prstGeom>
          <a:solidFill>
            <a:srgbClr val="3A2E18"/>
          </a:solidFill>
          <a:ln w="12700">
            <a:solidFill>
              <a:srgbClr val="3A2E1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97480" y="54772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HEURISTIC, NOT ML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92040" y="5294376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utilization % per resource type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315200" y="5294376"/>
            <a:ext cx="4160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placeholder for the real ML forecasting layer — see What's Next.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F67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CLASH &amp; DOUBLE-BOOKING DETECTOR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5F67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94360"/>
            <a:ext cx="146304" cy="146304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51206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DEMO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F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judges will watch happen live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423160"/>
            <a:ext cx="457200" cy="457200"/>
          </a:xfrm>
          <a:prstGeom prst="ellipse">
            <a:avLst/>
          </a:prstGeom>
          <a:solidFill>
            <a:srgbClr val="3A2E18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23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30175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live board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356616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real clashes are already on it — Driver Ramesh and Vehicle MH-04-1121, both double-booked on 13 Oct.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83280" y="219456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2423160"/>
            <a:ext cx="457200" cy="457200"/>
          </a:xfrm>
          <a:prstGeom prst="ellipse">
            <a:avLst/>
          </a:prstGeom>
          <a:solidFill>
            <a:srgbClr val="3A2E18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11880" y="2423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11880" y="30175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Driver Ramesh again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11880" y="356616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 overlapping date on purpose — the same booking flow any dispatcher would use.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7920" y="219456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2423160"/>
            <a:ext cx="457200" cy="457200"/>
          </a:xfrm>
          <a:prstGeom prst="ellipse">
            <a:avLst/>
          </a:prstGeom>
          <a:solidFill>
            <a:srgbClr val="3A2E18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423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46520" y="30175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clash modal fire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46520" y="356616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names the exact colliding trip and proposes Driver Suresh, who's free for the full range.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52560" y="219456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81160" y="2423160"/>
            <a:ext cx="457200" cy="457200"/>
          </a:xfrm>
          <a:prstGeom prst="ellipse">
            <a:avLst/>
          </a:prstGeom>
          <a:solidFill>
            <a:srgbClr val="3A2E18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81160" y="2423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281160" y="30175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with one click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81160" y="356616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re-routes to Suresh instantly; the board updates from Conflict to Booked live.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66928" y="5257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walkthrough recorded as the demo video — live link and repo in the submission.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F67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CLASH &amp; DOUBLE-BOOKING DETECTOR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5F67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94360"/>
            <a:ext cx="146304" cy="146304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51206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IMPACT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F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changes for the agency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257800" cy="2788920"/>
          </a:xfrm>
          <a:prstGeom prst="roundRect">
            <a:avLst>
              <a:gd name="adj" fmla="val 2623"/>
            </a:avLst>
          </a:prstGeom>
          <a:solidFill>
            <a:srgbClr val="141B2C"/>
          </a:solidFill>
          <a:ln w="12700">
            <a:solidFill>
              <a:srgbClr val="3A1E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67128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 — MANUAL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470916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Cross-checked by hand in spreadsheets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found the day of the trip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scramble for a replacement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erodes with partners &amp; travelers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1965960"/>
            <a:ext cx="5257800" cy="2788920"/>
          </a:xfrm>
          <a:prstGeom prst="roundRect">
            <a:avLst>
              <a:gd name="adj" fmla="val 2623"/>
            </a:avLst>
          </a:prstGeom>
          <a:solidFill>
            <a:srgbClr val="141B2C"/>
          </a:solidFill>
          <a:ln w="12700">
            <a:solidFill>
              <a:srgbClr val="1633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29400" y="2167128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FC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THIS PROTOTYPE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29400" y="2560320"/>
            <a:ext cx="470916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booking auto-checked on entry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 caught the moment it's created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alternative suggested instantly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scheduling, repeat bookings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5029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Realistically implementable — any agency, large or small, plugs it into its existing booking records. No new hardware, no external data dependency.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F67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CLASH &amp; DOUBLE-BOOKING DETECTOR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5F67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94360"/>
            <a:ext cx="146304" cy="146304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51206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WHAT'S NEXT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F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next, honestly labeled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48132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per the submission rules — included so judges see the roadmap, not a claim that it's already built.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566160" cy="1508760"/>
          </a:xfrm>
          <a:prstGeom prst="roundRect">
            <a:avLst>
              <a:gd name="adj" fmla="val 4848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31343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ML forecasting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679192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rule-based utilization panel with a trained demand-prediction model.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15968" y="2148840"/>
            <a:ext cx="3566160" cy="1508760"/>
          </a:xfrm>
          <a:prstGeom prst="roundRect">
            <a:avLst>
              <a:gd name="adj" fmla="val 4848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4568" y="231343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+ database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44568" y="2679192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Node/Express + Postgres so every dispatcher sees one shared, live board.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83296" y="2148840"/>
            <a:ext cx="3566160" cy="1508760"/>
          </a:xfrm>
          <a:prstGeom prst="roundRect">
            <a:avLst>
              <a:gd name="adj" fmla="val 4848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11896" y="231343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alerts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11896" y="2679192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/ email / WhatsApp pings to drivers, guides, and hotels on clash or reassignment.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858768"/>
            <a:ext cx="3566160" cy="1508760"/>
          </a:xfrm>
          <a:prstGeom prst="roundRect">
            <a:avLst>
              <a:gd name="adj" fmla="val 4848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023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sync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3891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sync with Google Calendar / Outlook per driver and guide.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315968" y="3858768"/>
            <a:ext cx="3566160" cy="1508760"/>
          </a:xfrm>
          <a:prstGeom prst="roundRect">
            <a:avLst>
              <a:gd name="adj" fmla="val 4848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4568" y="4023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apps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44568" y="43891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/ iOS clients on top of the same conflict-detection core.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83296" y="3858768"/>
            <a:ext cx="3566160" cy="1508760"/>
          </a:xfrm>
          <a:prstGeom prst="roundRect">
            <a:avLst>
              <a:gd name="adj" fmla="val 4848"/>
            </a:avLst>
          </a:prstGeom>
          <a:solidFill>
            <a:srgbClr val="141B2C"/>
          </a:solidFill>
          <a:ln w="12700">
            <a:solidFill>
              <a:srgbClr val="2B355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11896" y="4023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F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Multi-branch access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311896" y="43891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B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logins for agencies running more than one office.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F67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CLASH &amp; DOUBLE-BOOKING DETECTOR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5F67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2026-08-20T10:53:20Z</dcterms:created>
  <dcterms:modified xsi:type="dcterms:W3CDTF">2026-08-20T10:53:20Z</dcterms:modified>
</cp:coreProperties>
</file>